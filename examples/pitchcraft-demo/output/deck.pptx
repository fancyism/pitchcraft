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800" b="0" i="0" u="none" strike="noStrike">
                <a:solidFill>
                  <a:srgbClr val="000000"/>
                </a:solidFill>
                <a:latin typeface="Arial"/>
              </a:rPr>
              <a:t>What ships in the v1 contracts (counted from schemas)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Count</c:v>
                </c:pt>
              </c:strCache>
            </c:strRef>
          </c:tx>
          <c:spPr>
            <a:solidFill>
              <a:srgbClr val="25474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5474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6A2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A8B9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38B6A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Slide types</c:v>
                  </c:pt>
                  <c:pt idx="1">
                    <c:v>Layout families</c:v>
                  </c:pt>
                  <c:pt idx="2">
                    <c:v>Visual strategies</c:v>
                  </c:pt>
                  <c:pt idx="3">
                    <c:v>Chart types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31</c:v>
                </c:pt>
                <c:pt idx="1">
                  <c:v>22</c:v>
                </c:pt>
                <c:pt idx="2">
                  <c:v>16</c:v>
                </c:pt>
                <c:pt idx="3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cold: every AI team can generate slides; almost none can generate a deck. PitchCraft is the difference.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the sentence sit. Everyone in the room has sat through this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DSL enforces the message field — this is a structural guarantee, not a style hope.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left column is a workflow; the right column is an engine. Same model, different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Any one layer is a nice-to-have; the six together are the moat.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Nothing renders before the plan validates — that ordering is the whole trick.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countable facts from the repo's schema enums — not marketing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right column is not effort — it is structure. The gate makes the floor the minimum.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Dogfooding as evidence: the artifacts in output/ are the audit trail — slide-plan, sources-map, qa-report.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spec's own words. This is the standard the repo holds itself 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Adoption is one command; the DSL means you are never locked into one renderer.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command. The next deck they see should be theirs.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2024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AGENT SKILL · MARKETING DECKS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286000"/>
            <a:ext cx="1109167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PitchCraft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749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marketing presentation engine — sources, brand, fonts and data in; validated, art-directed deck out.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603504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MARKETING TEAMS AND AI-AGENT BUILDERS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6510528"/>
            <a:ext cx="110916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Sources: README.md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2928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 / 12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03120"/>
            <a:ext cx="11091672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AI decks are easy to generate — and easy to spot.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4389120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Giant title. Three generic bullets. The same card grid, five slides running. Unsourced numbers. That is what 'prompt, bullets, slides' produces — and audiences have learned to see it.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6510528"/>
            <a:ext cx="110916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Sources: spec §30 (design quality bar)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2928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 / 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0"/>
            <a:ext cx="11091672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25474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3s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548640" y="39319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to land a slide's core idea — the 3-second rule behind every layout decision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6510528"/>
            <a:ext cx="110916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Sources: spec §2 (core design principle)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12928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 / 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REAL DIFFERENCE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13816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Content dump vs communication system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4023360"/>
          </a:xfrm>
          <a:prstGeom prst="roundRect">
            <a:avLst>
              <a:gd name="adj" fmla="val 1818"/>
            </a:avLst>
          </a:prstGeom>
          <a:solidFill>
            <a:srgbClr val="F1ECE3"/>
          </a:solidFill>
          <a:ln w="12700">
            <a:solidFill>
              <a:srgbClr val="E3DC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78308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PROBLEM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Prompt → bullets → slides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2651760"/>
            <a:ext cx="493776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 story spine, no provenance, no QA. The tool fills space; the message never lands.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81928" y="1554480"/>
            <a:ext cx="5394960" cy="4023360"/>
          </a:xfrm>
          <a:prstGeom prst="roundRect">
            <a:avLst>
              <a:gd name="adj" fmla="val 1818"/>
            </a:avLst>
          </a:prstGeom>
          <a:solidFill>
            <a:srgbClr val="F1ECE3"/>
          </a:solidFill>
          <a:ln w="12700">
            <a:solidFill>
              <a:srgbClr val="C46A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10528" y="178308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SOLUTION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10528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Workspace → story → system → QA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510528" y="2651760"/>
            <a:ext cx="493776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Ingest sources with provenance, pick a narrative spine, serialize a validated Slide DSL, render, then inspect-repair until nothing FAILs.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6510528"/>
            <a:ext cx="110916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Sources: spec §2, spec §3 (pipeline)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12928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4 / 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ENGINE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13816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Six layers, one moat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14344" cy="2011680"/>
          </a:xfrm>
          <a:prstGeom prst="roundRect">
            <a:avLst>
              <a:gd name="adj" fmla="val 2727"/>
            </a:avLst>
          </a:prstGeom>
          <a:solidFill>
            <a:srgbClr val="F1ECE3"/>
          </a:solidFill>
          <a:ln w="12700">
            <a:solidFill>
              <a:srgbClr val="E3DC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148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783080"/>
            <a:ext cx="31485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Source intelligence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331720"/>
            <a:ext cx="31485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Claims extracted with provenance; never fabricated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37304" y="1371600"/>
            <a:ext cx="3514344" cy="2011680"/>
          </a:xfrm>
          <a:prstGeom prst="roundRect">
            <a:avLst>
              <a:gd name="adj" fmla="val 2727"/>
            </a:avLst>
          </a:prstGeom>
          <a:solidFill>
            <a:srgbClr val="F1ECE3"/>
          </a:solidFill>
          <a:ln w="12700">
            <a:solidFill>
              <a:srgbClr val="E3DC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20184" y="1508760"/>
            <a:ext cx="3148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20184" y="1783080"/>
            <a:ext cx="31485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Story intelligence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20184" y="2331720"/>
            <a:ext cx="31485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Narrative spine plus a designed emotional arc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25968" y="1371600"/>
            <a:ext cx="3514344" cy="2011680"/>
          </a:xfrm>
          <a:prstGeom prst="roundRect">
            <a:avLst>
              <a:gd name="adj" fmla="val 2727"/>
            </a:avLst>
          </a:prstGeom>
          <a:solidFill>
            <a:srgbClr val="F1ECE3"/>
          </a:solidFill>
          <a:ln w="12700">
            <a:solidFill>
              <a:srgbClr val="E3DC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08848" y="1508760"/>
            <a:ext cx="3148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08848" y="1783080"/>
            <a:ext cx="31485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Slide DSL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08848" y="2331720"/>
            <a:ext cx="31485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Content separated from rendering; one format, many outputs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657600"/>
            <a:ext cx="3514344" cy="2011680"/>
          </a:xfrm>
          <a:prstGeom prst="roundRect">
            <a:avLst>
              <a:gd name="adj" fmla="val 2727"/>
            </a:avLst>
          </a:prstGeom>
          <a:solidFill>
            <a:srgbClr val="F1ECE3"/>
          </a:solidFill>
          <a:ln w="12700">
            <a:solidFill>
              <a:srgbClr val="E3DC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794760"/>
            <a:ext cx="3148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L4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31520" y="4069080"/>
            <a:ext cx="31485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Visual strategy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31520" y="4617720"/>
            <a:ext cx="31485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16 treatments chosen by intent, never decorative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37304" y="3657600"/>
            <a:ext cx="3514344" cy="2011680"/>
          </a:xfrm>
          <a:prstGeom prst="roundRect">
            <a:avLst>
              <a:gd name="adj" fmla="val 2727"/>
            </a:avLst>
          </a:prstGeom>
          <a:solidFill>
            <a:srgbClr val="F1ECE3"/>
          </a:solidFill>
          <a:ln w="12700">
            <a:solidFill>
              <a:srgbClr val="E3DCD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20184" y="3794760"/>
            <a:ext cx="3148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L5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20184" y="4069080"/>
            <a:ext cx="31485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Multi-renderer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20184" y="4617720"/>
            <a:ext cx="31485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HTML, PPTX and PDF from the same deck.json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125968" y="3657600"/>
            <a:ext cx="3514344" cy="2011680"/>
          </a:xfrm>
          <a:prstGeom prst="roundRect">
            <a:avLst>
              <a:gd name="adj" fmla="val 2727"/>
            </a:avLst>
          </a:prstGeom>
          <a:solidFill>
            <a:srgbClr val="F1ECE3"/>
          </a:solidFill>
          <a:ln w="12700">
            <a:solidFill>
              <a:srgbClr val="E3DCD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08848" y="3794760"/>
            <a:ext cx="3148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L6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308848" y="4069080"/>
            <a:ext cx="31485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Visual QA loop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308848" y="4617720"/>
            <a:ext cx="31485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Inspect, repair, re-render until nothing FAILs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" y="6510528"/>
            <a:ext cx="110916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Sources: spec §33 + Final Mandate (the core moat)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12928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 / 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HOW IT RUNS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13816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ten-phase pipeline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14344" cy="2011680"/>
          </a:xfrm>
          <a:prstGeom prst="roundRect">
            <a:avLst>
              <a:gd name="adj" fmla="val 2727"/>
            </a:avLst>
          </a:prstGeom>
          <a:solidFill>
            <a:srgbClr val="F1ECE3"/>
          </a:solidFill>
          <a:ln w="12700">
            <a:solidFill>
              <a:srgbClr val="E3DC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148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783080"/>
            <a:ext cx="31485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Discover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331720"/>
            <a:ext cx="31485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Workspace inventory + tool check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37304" y="1371600"/>
            <a:ext cx="3514344" cy="2011680"/>
          </a:xfrm>
          <a:prstGeom prst="roundRect">
            <a:avLst>
              <a:gd name="adj" fmla="val 2727"/>
            </a:avLst>
          </a:prstGeom>
          <a:solidFill>
            <a:srgbClr val="F1ECE3"/>
          </a:solidFill>
          <a:ln w="12700">
            <a:solidFill>
              <a:srgbClr val="E3DC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20184" y="1508760"/>
            <a:ext cx="3148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20184" y="1783080"/>
            <a:ext cx="31485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Ingest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20184" y="2331720"/>
            <a:ext cx="31485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Extract claims + provenance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25968" y="1371600"/>
            <a:ext cx="3514344" cy="2011680"/>
          </a:xfrm>
          <a:prstGeom prst="roundRect">
            <a:avLst>
              <a:gd name="adj" fmla="val 2727"/>
            </a:avLst>
          </a:prstGeom>
          <a:solidFill>
            <a:srgbClr val="F1ECE3"/>
          </a:solidFill>
          <a:ln w="12700">
            <a:solidFill>
              <a:srgbClr val="E3DC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08848" y="1508760"/>
            <a:ext cx="3148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P2-3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08848" y="1783080"/>
            <a:ext cx="31485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Story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08848" y="2331720"/>
            <a:ext cx="31485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Brief, spine, emotional arc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657600"/>
            <a:ext cx="3514344" cy="2011680"/>
          </a:xfrm>
          <a:prstGeom prst="roundRect">
            <a:avLst>
              <a:gd name="adj" fmla="val 2727"/>
            </a:avLst>
          </a:prstGeom>
          <a:solidFill>
            <a:srgbClr val="F1ECE3"/>
          </a:solidFill>
          <a:ln w="12700">
            <a:solidFill>
              <a:srgbClr val="E3DC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794760"/>
            <a:ext cx="3148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P4-5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31520" y="4069080"/>
            <a:ext cx="31485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Plan &amp; DSL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31520" y="4617720"/>
            <a:ext cx="31485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slide-plan → deck.json, validated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37304" y="3657600"/>
            <a:ext cx="3514344" cy="2011680"/>
          </a:xfrm>
          <a:prstGeom prst="roundRect">
            <a:avLst>
              <a:gd name="adj" fmla="val 2727"/>
            </a:avLst>
          </a:prstGeom>
          <a:solidFill>
            <a:srgbClr val="F1ECE3"/>
          </a:solidFill>
          <a:ln w="12700">
            <a:solidFill>
              <a:srgbClr val="E3DCD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20184" y="3794760"/>
            <a:ext cx="3148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P6-7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20184" y="4069080"/>
            <a:ext cx="31485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Theme &amp; render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20184" y="4617720"/>
            <a:ext cx="31485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Tokens, assets, HTML/PPTX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125968" y="3657600"/>
            <a:ext cx="3514344" cy="2011680"/>
          </a:xfrm>
          <a:prstGeom prst="roundRect">
            <a:avLst>
              <a:gd name="adj" fmla="val 2727"/>
            </a:avLst>
          </a:prstGeom>
          <a:solidFill>
            <a:srgbClr val="F1ECE3"/>
          </a:solidFill>
          <a:ln w="12700">
            <a:solidFill>
              <a:srgbClr val="E3DCD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08848" y="3794760"/>
            <a:ext cx="3148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P8-9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308848" y="4069080"/>
            <a:ext cx="31485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QA &amp; export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308848" y="4617720"/>
            <a:ext cx="31485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Inspect-repair loop, previews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" y="6510528"/>
            <a:ext cx="110916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Sources: spec §3 (pipeline), spec §23 (output structure)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12928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6 / 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V1 CONTRACTS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13816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Intent does the choosing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371600"/>
          <a:ext cx="11091672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681728"/>
            <a:ext cx="110916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Source: schemas/slide.schema.json — counted 2026-09-20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48640" y="594360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Takeaway. 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taxonomy this wide means the layout follows the slide's job — the model never free-styles structure.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110916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Sources: schemas/slide.schema.json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2928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7 / 12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BEFORE / AFTER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13816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Same agent, different system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4023360"/>
          </a:xfrm>
          <a:prstGeom prst="roundRect">
            <a:avLst>
              <a:gd name="adj" fmla="val 1818"/>
            </a:avLst>
          </a:prstGeom>
          <a:solidFill>
            <a:srgbClr val="F1ECE3"/>
          </a:solidFill>
          <a:ln w="12700">
            <a:solidFill>
              <a:srgbClr val="E3DC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78308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BEFORE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Generated filler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2651760"/>
            <a:ext cx="493776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Giant titles · generic bullets · repeated card grids · unsourced numbers · no QA gate · nothing editable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81928" y="1554480"/>
            <a:ext cx="5394960" cy="4023360"/>
          </a:xfrm>
          <a:prstGeom prst="roundRect">
            <a:avLst>
              <a:gd name="adj" fmla="val 1818"/>
            </a:avLst>
          </a:prstGeom>
          <a:solidFill>
            <a:srgbClr val="F1ECE3"/>
          </a:solidFill>
          <a:ln w="12700">
            <a:solidFill>
              <a:srgbClr val="C46A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10528" y="178308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AFTER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10528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Art-directed system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510528" y="2651760"/>
            <a:ext cx="493776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One job per slide · intent-chosen layouts · on-slide sources · PASS/WARNING/FAIL gate · deck.json stays editable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6510528"/>
            <a:ext cx="110916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Sources: spec §30, spec §19-21 (QA loops)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12928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8 / 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PROOF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13816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deck is the demo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2011680"/>
            <a:ext cx="27729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5474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12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48640" y="2834640"/>
            <a:ext cx="277291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slides, one job each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321558" y="2011680"/>
            <a:ext cx="27729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5474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6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3321558" y="2834640"/>
            <a:ext cx="277291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narrative beats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094476" y="2011680"/>
            <a:ext cx="27729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5474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6094476" y="2834640"/>
            <a:ext cx="277291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FAILs at export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867394" y="2011680"/>
            <a:ext cx="27729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5474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100%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8867394" y="2834640"/>
            <a:ext cx="277291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claims with provenance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6510528"/>
            <a:ext cx="110916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Sources: spec §33 (a working skill, not documentation), output/qa-report.md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12928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9 / 12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94560"/>
            <a:ext cx="11091672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i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“Build this as a reusable AI presentation engine, not a one-off slide generator.”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448056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— PitchCraft specification — Final Mandate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12928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 /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SHIPS TODAY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13816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What you can run with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14344" cy="2011680"/>
          </a:xfrm>
          <a:prstGeom prst="roundRect">
            <a:avLst>
              <a:gd name="adj" fmla="val 2727"/>
            </a:avLst>
          </a:prstGeom>
          <a:solidFill>
            <a:srgbClr val="F1ECE3"/>
          </a:solidFill>
          <a:ln w="12700">
            <a:solidFill>
              <a:srgbClr val="E3DC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148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Now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783080"/>
            <a:ext cx="31485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Render + export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331720"/>
            <a:ext cx="31485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Self-contained deck.html; editable PPTX (pptxgenjs); PDF via print mode; preview PNGs feed the QA loop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37304" y="1371600"/>
            <a:ext cx="3514344" cy="2011680"/>
          </a:xfrm>
          <a:prstGeom prst="roundRect">
            <a:avLst>
              <a:gd name="adj" fmla="val 2727"/>
            </a:avLst>
          </a:prstGeom>
          <a:solidFill>
            <a:srgbClr val="F1ECE3"/>
          </a:solidFill>
          <a:ln w="12700">
            <a:solidFill>
              <a:srgbClr val="E3DC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20184" y="1508760"/>
            <a:ext cx="3148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Now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20184" y="1783080"/>
            <a:ext cx="31485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deck's DNA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20184" y="2331720"/>
            <a:ext cx="31485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deck.json is the source of truth — re-render any format, any time, from the same DSL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25968" y="1371600"/>
            <a:ext cx="3514344" cy="2011680"/>
          </a:xfrm>
          <a:prstGeom prst="roundRect">
            <a:avLst>
              <a:gd name="adj" fmla="val 2727"/>
            </a:avLst>
          </a:prstGeom>
          <a:solidFill>
            <a:srgbClr val="F1ECE3"/>
          </a:solidFill>
          <a:ln w="12700">
            <a:solidFill>
              <a:srgbClr val="E3DC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08848" y="1508760"/>
            <a:ext cx="3148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46A2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Optional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08848" y="1783080"/>
            <a:ext cx="31485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Calibrated AI QA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08848" y="2331720"/>
            <a:ext cx="31485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TypeSafe Score/Noul judgments advise the QA loop when an API key is present — humans keep the final PASS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6510528"/>
            <a:ext cx="110916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Sources: spec §4 (DSL), spec §23 (outputs), references/qa.md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12928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11 / 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03120"/>
            <a:ext cx="11091672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01D1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Point your agent at a workspace and say the word.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5120640"/>
            <a:ext cx="3566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474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Install  npx skills add fancyism/pitchcraft</a:t>
            </a:r>
            <a:pPr indent="0" marL="0">
              <a:buNone/>
            </a:pPr>
            <a:r>
              <a:rPr lang="en-US" sz="12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Any skills-compatible agent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297680" y="5120640"/>
            <a:ext cx="3566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474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Run  "Create a 12-slide deck from this workspace"</a:t>
            </a:r>
            <a:pPr indent="0" marL="0">
              <a:buNone/>
            </a:pPr>
            <a:r>
              <a:rPr lang="en-US" sz="12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Audience, goal, style — the pipeline does the rest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046720" y="5120640"/>
            <a:ext cx="3566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474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 deck.json stays yours</a:t>
            </a:r>
            <a:pPr indent="0" marL="0">
              <a:buNone/>
            </a:pPr>
            <a:r>
              <a:rPr lang="en-US" sz="12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The DSL is the deliverable; formats are views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510528"/>
            <a:ext cx="110916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Sources: README.md (install)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2928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45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12 / 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PitchCraft — Marketing Presentation Engine</dc:title>
  <dc:subject>PptxGenJS Presentation</dc:subject>
  <dc:creator>PptxGenJS</dc:creator>
  <cp:lastModifiedBy>PptxGenJS</cp:lastModifiedBy>
  <cp:revision>1</cp:revision>
  <dcterms:created xsi:type="dcterms:W3CDTF">2026-09-21T08:23:58Z</dcterms:created>
  <dcterms:modified xsi:type="dcterms:W3CDTF">2026-09-21T08:23:58Z</dcterms:modified>
</cp:coreProperties>
</file>